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0"/>
            <a:ext cx="3511296" cy="6858000"/>
          </a:xfrm>
          <a:prstGeom prst="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82296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315200" cy="18288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HEALTHCARE</a:t>
            </a:r>
          </a:p>
          <a:p>
            <a:pPr>
              <a:spcAft>
                <a:spcPts val="900"/>
              </a:spcAft>
              <a:defRPr sz="4400" b="1">
                <a:solidFill>
                  <a:srgbClr val="FFFFFF"/>
                </a:solidFill>
                <a:latin typeface="Aptos"/>
              </a:defRPr>
            </a:pPr>
            <a:r>
              <a:t>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54680"/>
            <a:ext cx="731520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C4DCF6"/>
                </a:solidFill>
                <a:latin typeface="Aptos"/>
              </a:defRPr>
            </a:pPr>
            <a:r>
              <a:t>Arquitectura y demostración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731520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FFFFFF"/>
                </a:solidFill>
                <a:latin typeface="Aptos"/>
              </a:defRPr>
            </a:pPr>
            <a:r>
              <a:t>Asistente virtual para una clínica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01184"/>
            <a:ext cx="7315200" cy="5943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C4DCF6"/>
                </a:solidFill>
                <a:latin typeface="Aptos"/>
              </a:defRPr>
            </a:pPr>
            <a:r>
              <a:t>Python  •  FastAPI  •  LangGraph  •  RAG  • 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011680"/>
            <a:ext cx="2468880" cy="34747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FAQ</a:t>
            </a:r>
          </a:p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TURNOS</a:t>
            </a:r>
          </a:p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01  ¿Qué hace mi aplicación?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Una API backend que procesa consultas de pacientes.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3520440" cy="3200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64008" cy="32004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084832"/>
            <a:ext cx="3154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Preguntas frecuentes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615184"/>
            <a:ext cx="3081528" cy="245059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Responde consultas sobre horarios, servicios e información de la clínica.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920240"/>
            <a:ext cx="3520440" cy="3200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920240"/>
            <a:ext cx="64008" cy="3200400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2084832"/>
            <a:ext cx="3154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Turnos médicos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615184"/>
            <a:ext cx="3081528" cy="245059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Consulta disponibilidad y permite reservar horarios disponibles.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520440" cy="3200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64008" cy="3200400"/>
          </a:xfrm>
          <a:prstGeom prst="rect">
            <a:avLst/>
          </a:prstGeom>
          <a:solidFill>
            <a:srgbClr val="EB6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2" y="2084832"/>
            <a:ext cx="315468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Seguridad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2" y="2615184"/>
            <a:ext cx="3081528" cy="245059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Identifica consultas sensibles y evita ofrecer diagnósticos.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42432"/>
            <a:ext cx="1051560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No tiene frontend: se demuestra utilizando Swagger.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02  Arquitectura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El recorrido de una consulta, de principio a fin.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03120"/>
            <a:ext cx="2057400" cy="914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350008"/>
            <a:ext cx="1837943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Swagger / Paciente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2103120"/>
            <a:ext cx="2057400" cy="914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2350008"/>
            <a:ext cx="1837943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FastAPI + Pydantic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04104" y="2103120"/>
            <a:ext cx="2057400" cy="914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2" y="2350008"/>
            <a:ext cx="1837943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2103120"/>
            <a:ext cx="1920240" cy="914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56648" y="2350008"/>
            <a:ext cx="1700784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spcAft>
                <a:spcPts val="9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Respuesta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331720"/>
            <a:ext cx="32004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2A8E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2331720"/>
            <a:ext cx="32004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2A8E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5512" y="2331720"/>
            <a:ext cx="320040" cy="36576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2A8EE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160520"/>
            <a:ext cx="1965960" cy="914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4160520"/>
            <a:ext cx="64008" cy="9144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4398264"/>
            <a:ext cx="1810512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RAG / FAQ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37760" y="4160520"/>
            <a:ext cx="1965960" cy="914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4160520"/>
            <a:ext cx="64008" cy="914400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4398264"/>
            <a:ext cx="1810512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Booking / MCP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4160520"/>
            <a:ext cx="1965960" cy="91440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4160520"/>
            <a:ext cx="64008" cy="914400"/>
          </a:xfrm>
          <a:prstGeom prst="rect">
            <a:avLst/>
          </a:prstGeom>
          <a:solidFill>
            <a:srgbClr val="EB6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59" y="4398264"/>
            <a:ext cx="1810512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 algn="ctr">
              <a:spcAft>
                <a:spcPts val="9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310128"/>
            <a:ext cx="640080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C4DCF6"/>
                </a:solidFill>
                <a:latin typeface="Aptos"/>
              </a:defRPr>
            </a:pPr>
            <a:r>
              <a:t>↓  LangGraph elige una de las tres rutas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03  FastAPI, Pydantic y LangGraph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Archivos: app/main.py · app/models/patient.py · app/graph/workflow.py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4720" cy="333756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33756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310896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23744"/>
            <a:ext cx="3035808" cy="258775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POST /chat recibe el mensaje y ejecuta healthcare_graph.ainvoke().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828800"/>
            <a:ext cx="3474720" cy="333756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28800"/>
            <a:ext cx="64008" cy="3337560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1993392"/>
            <a:ext cx="310896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523744"/>
            <a:ext cx="3035808" cy="258775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PatientRequest valida patient_id y message. Si faltan datos, responde 422.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828800"/>
            <a:ext cx="3474720" cy="333756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828800"/>
            <a:ext cx="64008" cy="333756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993392"/>
            <a:ext cx="310896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LangGraph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523744"/>
            <a:ext cx="3035808" cy="258775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StateGraph organiza los nodos y dirige la consulta a FAQ, Booking o Safety.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779008"/>
            <a:ext cx="1088136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C4DCF6"/>
                </a:solidFill>
                <a:latin typeface="Aptos"/>
              </a:defRPr>
            </a:pPr>
            <a:r>
              <a:t>Para mostrar: abrí los archivos y señalá las funciones principales.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04  RAG: preguntas frecuentes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Archivos: data/clinic_faq.json · app/rag/embeddings.py · retriever.py · generator.py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56231"/>
            <a:ext cx="5468112" cy="1673352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56231"/>
            <a:ext cx="64008" cy="167335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20824"/>
            <a:ext cx="5102352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1. FAQs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51176"/>
            <a:ext cx="5029200" cy="923544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Se leen las preguntas y respuestas desde 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56231"/>
            <a:ext cx="5468112" cy="1673352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5080" y="1856231"/>
            <a:ext cx="64008" cy="1673352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020824"/>
            <a:ext cx="5102352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2.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51176"/>
            <a:ext cx="5029200" cy="923544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OpenAI convierte el texto en vectores numéricos.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30752"/>
            <a:ext cx="5468112" cy="1673352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30752"/>
            <a:ext cx="64008" cy="167335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95344"/>
            <a:ext cx="5102352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3. Similitud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425696"/>
            <a:ext cx="5029200" cy="923544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Se compara la pregunta con las FAQs usando similitud coseno.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730752"/>
            <a:ext cx="5468112" cy="1673352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3730752"/>
            <a:ext cx="64008" cy="1673352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895344"/>
            <a:ext cx="5102352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4. Respuesta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425696"/>
            <a:ext cx="5029200" cy="923544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Score ≥ 0.65: GPT-4.1-mini responde con el contexto.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05  Caché y rendimiento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Archivo: app/rag/retriever.py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100584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75688"/>
            <a:ext cx="996696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@lru_cache(maxsize=1)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18688"/>
            <a:ext cx="5166360" cy="214884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18688"/>
            <a:ext cx="64008" cy="214884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3383280"/>
            <a:ext cx="48006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Primera consulta FAQ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913632"/>
            <a:ext cx="4727448" cy="1399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Se calculan los embeddings de las FAQs y se guardan en memoria.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3912" y="3218688"/>
            <a:ext cx="5166360" cy="214884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3912" y="3218688"/>
            <a:ext cx="64008" cy="2148840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3383280"/>
            <a:ext cx="48006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Consultas siguientes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913632"/>
            <a:ext cx="4727448" cy="1399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Se reutilizan las FAQs en caché; cada pregunta nueva genera su propio embedding.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24728"/>
            <a:ext cx="10515600" cy="384048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C4DCF6"/>
                </a:solidFill>
                <a:latin typeface="Aptos"/>
              </a:defRPr>
            </a:pPr>
            <a:r>
              <a:t>El caché se pierde al reiniciar la aplicación.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06  MCP y reservas de turnos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Archivos: mcp_server/server.py · app/services/booking.py · data/doctor_schedule.json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5394960" cy="329184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64008" cy="329184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84832"/>
            <a:ext cx="50292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check_availability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15184"/>
            <a:ext cx="4956048" cy="2542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Consulta si un horario está disponible. Solo lee la información del JSON.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20240"/>
            <a:ext cx="5394960" cy="329184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920240"/>
            <a:ext cx="64008" cy="3291840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84832"/>
            <a:ext cx="50292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book_slot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15184"/>
            <a:ext cx="4956048" cy="254203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Si el horario está libre, confirma la reserva y elimina ese turno de los disponibles.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715000"/>
            <a:ext cx="1078992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FastMCP registra ambas herramientas mediante @mcp.tool().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07  Safety y pruebas automatizadas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Archivos: app/graph/nodes.py · tests/test_chat.py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5440680" cy="347472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74519"/>
            <a:ext cx="64008" cy="3474720"/>
          </a:xfrm>
          <a:prstGeom prst="rect">
            <a:avLst/>
          </a:prstGeom>
          <a:solidFill>
            <a:srgbClr val="EB63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039112"/>
            <a:ext cx="507492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69463"/>
            <a:ext cx="5001768" cy="27249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Identifica emergencias y consultas médicas sensibles. Evita diagnósticos y tratamientos.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874519"/>
            <a:ext cx="5303520" cy="347472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54496" y="1874519"/>
            <a:ext cx="64008" cy="3474720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039112"/>
            <a:ext cx="4937759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Pytest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569463"/>
            <a:ext cx="4864608" cy="27249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Seis pruebas comprueban los endpoints, la validación 422 y las rutas FAQ, Booking y Safety.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788152"/>
            <a:ext cx="10515600" cy="4572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python -m pytest tests/test_chat.py -v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08  Demostración en Swagger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97864"/>
            <a:ext cx="10972800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C4DCF6"/>
                </a:solidFill>
                <a:latin typeface="Aptos"/>
              </a:defRPr>
            </a:pPr>
            <a:r>
              <a:t>Ejecutar: python -m uvicorn app.main:app --reload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49240" cy="338328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64008" cy="338328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1993392"/>
            <a:ext cx="4983479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Abrir la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523744"/>
            <a:ext cx="4910327" cy="263347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http://127.0.0.1:8000/docs</a:t>
            </a:r>
          </a:p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POST /chat → Try it out → Execute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828800"/>
            <a:ext cx="5349240" cy="338328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0488" y="1828800"/>
            <a:ext cx="64008" cy="3383280"/>
          </a:xfrm>
          <a:prstGeom prst="rect">
            <a:avLst/>
          </a:prstGeom>
          <a:solidFill>
            <a:srgbClr val="22A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993392"/>
            <a:ext cx="4983479" cy="41148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Tres ejemplos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23744"/>
            <a:ext cx="4910327" cy="263347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FAQ: What are the clinic opening hours?</a:t>
            </a:r>
          </a:p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Safety: I can’t breathe</a:t>
            </a:r>
          </a:p>
          <a:p>
            <a:pPr>
              <a:spcAft>
                <a:spcPts val="900"/>
              </a:spcAft>
              <a:defRPr sz="1600" b="0">
                <a:solidFill>
                  <a:srgbClr val="E5F2FF"/>
                </a:solidFill>
                <a:latin typeface="Aptos"/>
              </a:defRPr>
            </a:pPr>
            <a:r>
              <a:t>Booking: consultar un turno real del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881360" cy="5029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Mostrar en la respuesta: patient_id, route y response.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033271"/>
            <a:ext cx="914400" cy="50292"/>
          </a:xfrm>
          <a:prstGeom prst="rect">
            <a:avLst/>
          </a:prstGeom>
          <a:solidFill>
            <a:srgbClr val="2A8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92608"/>
            <a:ext cx="10972800" cy="6675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09  Conclusión y próximos pasos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55664"/>
            <a:ext cx="822960" cy="228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C4DCF6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241280" cy="137160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FastAPI recibe. Pydantic valida.</a:t>
            </a:r>
          </a:p>
          <a:p>
            <a:pPr>
              <a:spcAft>
                <a:spcPts val="9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LangGraph decide.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241280" cy="1417320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RAG responde. MCP gestiona turnos.</a:t>
            </a:r>
          </a:p>
          <a:p>
            <a:pPr>
              <a:spcAft>
                <a:spcPts val="9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Safety protege. Pytest verifica.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212080"/>
            <a:ext cx="10241280" cy="822960"/>
          </a:xfrm>
          <a:prstGeom prst="roundRect">
            <a:avLst/>
          </a:prstGeom>
          <a:solidFill>
            <a:srgbClr val="0C2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440680"/>
            <a:ext cx="9692640" cy="438912"/>
          </a:xfrm>
          <a:prstGeom prst="rect">
            <a:avLst/>
          </a:prstGeom>
          <a:noFill/>
        </p:spPr>
        <p:txBody>
          <a:bodyPr wrap="square" lIns="36576" tIns="18288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C4DCF6"/>
                </a:solidFill>
                <a:latin typeface="Aptos"/>
              </a:defRPr>
            </a:pPr>
            <a:r>
              <a:t>Próxima mejora: frontend con calendario de reservas.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